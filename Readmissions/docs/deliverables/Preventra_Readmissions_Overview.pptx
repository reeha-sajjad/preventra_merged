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1b3a140-9dbe-30d7-b81b-02f11fe5df5c}">
          <p14:sldIdLst>
            <p14:sldId id="256"/>
          </p14:sldIdLst>
        </p14:section>
        <p14:section name="How it works" id="{9885606d-1035-baec-3fdc-16f782cdff68}">
          <p14:sldIdLst>
            <p14:sldId id="257"/>
          </p14:sldIdLst>
        </p14:section>
        <p14:section name="What is built" id="{7b47d6cf-36cc-fffb-84de-50bd27e8c2fc}">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product. A patient going home is the moment risk is hardest to see: the team that knew them is no longer in the room. Preventra exists to keep that patient visible for the 30 days after discharge.
Three numbers to anchor the talk. 30 days is the window: a score on the day of discharge, then a weekly re-score through week 4. 0.72 is how well our built-in discharge model ranks patients (AUROC), and because it is calibrated, a 40% score means roughly 4 in 10 similar patients came back. That figure is a research benchmark on MIMIC-IV; each pilot hospital trains and tests its own model on its own data. 9 roles: one sign-in, and every page shows only what that role and that person's patients allow.
Keep the claims honest: Preventra supports decisions, it does not make them, and we do not promise fewer readmissions before a pilot has measured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each step is a module you will show in the walkthrough.
1 Data in: a hospital can upload its own exports, let its systems send data to our ingest API, or let Preventra read its database every night. All three go through the same column mapping and checks, and names, phone numbers and ID numbers are never kept.
2 Score at discharge: a calibrated model gives a percentage, a band (Low under 20%, Medium 20 to 40%, High 40% and above), and the three drivers that pushed the score up, in plain words.
3 Monitor weekly: for weeks 1 to 4, readings like weight, blood pressure, oxygen, adherence and refills are scored by rules tuned to the patient's condition; red flags surface anything that needs a clinician today. Weekly scores are directional, not calibrated.
4 Act: a rise of 5 points, a move up a band or a red flag reaches that patient's own doctor and nurse; the clinician console, notes and follow-up requests give every alert an owner.
5 Improve: Model Studio lets the hospital train on its own outcomes, compares against the model in use with honest tests, and deploys only what passes.
Close on the box at the bottom: the clinical decision stays with the care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walkthrough: four groups, each a set of pages one kind of user lives in.
Care team: doctors and nurses land on My patients; everyone shares the worklist and the patient record with its weekly trend; doctors answer alerts in the clinician console; case managers run follow-ups; anyone can ask the assistant, and it only answers from patients they may see.
Running the hospital: the Overview counts, Staff assignment, Analytics, and the controls: user approvals, the access log, and review of emergency "break the glass" access.
Data and models: how a hospital gets its patients in (upload, connections, the ingest API), Model Studio to train and deploy its own model, and which AI provider serves each feature, including a local model for sites where nothing may leave.
Beyond the hospital: insurers see their members and the cost their risk carries; pharmacies see refills only; patients and caretakers get a plain-words home.
End on status: the product is built end to end; what remains is real clinic data, the clinic's own model, a silent run, then live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eventra 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3258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474720"/>
            <a:ext cx="6035040" cy="45720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eventra 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382512"/>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Preventra · Readmission Risk</a:t>
            </a:r>
            <a:endParaRPr lang="en-US" sz="1000" dirty="0"/>
          </a:p>
        </p:txBody>
      </p:sp>
      <p:pic>
        <p:nvPicPr>
          <p:cNvPr id="4" name="Image 0" descr="/home/denovo/Desktop/Preventra_merged/Portal/mark.png">    </p:cNvPr>
          <p:cNvPicPr>
            <a:picLocks noChangeAspect="1"/>
          </p:cNvPicPr>
          <p:nvPr/>
        </p:nvPicPr>
        <p:blipFill>
          <a:blip r:embed="rId1"/>
          <a:stretch>
            <a:fillRect/>
          </a:stretch>
        </p:blipFill>
        <p:spPr>
          <a:xfrm>
            <a:off x="11274552" y="6309360"/>
            <a:ext cx="301752" cy="365760"/>
          </a:xfrm>
          <a:prstGeom prst="rect">
            <a:avLst/>
          </a:prstGeom>
        </p:spPr>
      </p:pic>
      <p:sp>
        <p:nvSpPr>
          <p:cNvPr id="25" name="Slide Number Placeholder 0"/>
          <p:cNvSpPr>
            <a:spLocks noGrp="1"/>
          </p:cNvSpPr>
          <p:nvPr>
            <p:ph type="sldNum" sz="quarter" idx="4294967295"/>
          </p:nvPr>
        </p:nvSpPr>
        <p:spPr>
          <a:xfrm>
            <a:off x="1078992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8992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ventra logo">    </p:cNvPr>
          <p:cNvPicPr>
            <a:picLocks noChangeAspect="1"/>
          </p:cNvPicPr>
          <p:nvPr/>
        </p:nvPicPr>
        <p:blipFill>
          <a:blip r:embed="rId1"/>
          <a:stretch>
            <a:fillRect/>
          </a:stretch>
        </p:blipFill>
        <p:spPr>
          <a:xfrm>
            <a:off x="640080" y="685800"/>
            <a:ext cx="1463040" cy="1145743"/>
          </a:xfrm>
          <a:prstGeom prst="rect">
            <a:avLst/>
          </a:prstGeom>
        </p:spPr>
      </p:pic>
      <p:sp>
        <p:nvSpPr>
          <p:cNvPr id="3" name="Text 0"/>
          <p:cNvSpPr/>
          <p:nvPr>
            <p:ph idx="100" type="title" hasCustomPrompt="1"/>
          </p:nvPr>
        </p:nvSpPr>
        <p:spPr>
          <a:xfrm>
            <a:off x="640080" y="2011680"/>
            <a:ext cx="6035040" cy="1325880"/>
          </a:xfrm>
          <a:prstGeom prst="rect">
            <a:avLst/>
          </a:prstGeom>
          <a:noFill/>
          <a:ln/>
        </p:spPr>
        <p:txBody>
          <a:bodyPr wrap="square" lIns="0" tIns="0" rIns="0" bIns="0" rtlCol="0" anchor="t"/>
          <a:lstStyle/>
          <a:p>
            <a:pPr algn="l" indent="0" marL="0">
              <a:buNone/>
            </a:pPr>
            <a:r>
              <a:rPr lang="en-US" sz="4000" b="1" dirty="0">
                <a:solidFill>
                  <a:schemeClr val="bg1"/>
                </a:solidFill>
              </a:rPr>
              <a:t>Preventra</a:t>
            </a:r>
            <a:endParaRPr lang="en-US" sz="4000" dirty="0"/>
          </a:p>
          <a:p>
            <a:pPr algn="l" indent="0" marL="0">
              <a:buNone/>
            </a:pPr>
            <a:r>
              <a:rPr lang="en-US" sz="4000" b="1" dirty="0">
                <a:solidFill>
                  <a:schemeClr val="bg1"/>
                </a:solidFill>
              </a:rPr>
              <a:t>Readmission Risk</a:t>
            </a:r>
            <a:endParaRPr lang="en-US" sz="4000" dirty="0"/>
          </a:p>
        </p:txBody>
      </p:sp>
      <p:sp>
        <p:nvSpPr>
          <p:cNvPr id="4" name="Text 0"/>
          <p:cNvSpPr/>
          <p:nvPr>
            <p:ph idx="101" type="body" hasCustomPrompt="1"/>
          </p:nvPr>
        </p:nvSpPr>
        <p:spPr>
          <a:xfrm>
            <a:off x="640080" y="3474720"/>
            <a:ext cx="6035040" cy="457200"/>
          </a:xfrm>
          <a:prstGeom prst="rect">
            <a:avLst/>
          </a:prstGeom>
          <a:noFill/>
          <a:ln/>
        </p:spPr>
        <p:txBody>
          <a:bodyPr wrap="square" lIns="0" tIns="0" rIns="0" bIns="0" rtlCol="0" anchor="t"/>
          <a:lstStyle/>
          <a:p>
            <a:pPr algn="l" indent="0" marL="0">
              <a:buNone/>
            </a:pPr>
            <a:r>
              <a:rPr lang="en-US" sz="2000" dirty="0">
                <a:solidFill>
                  <a:schemeClr val="accent1"/>
                </a:solidFill>
              </a:rPr>
              <a:t>From discharge data to decisions made in time</a:t>
            </a:r>
            <a:endParaRPr lang="en-US" sz="2000" dirty="0"/>
          </a:p>
        </p:txBody>
      </p:sp>
      <p:sp>
        <p:nvSpPr>
          <p:cNvPr id="5" name="Problem statement"/>
          <p:cNvSpPr txBox="1"/>
          <p:nvPr/>
        </p:nvSpPr>
        <p:spPr>
          <a:xfrm>
            <a:off x="640080" y="4206240"/>
            <a:ext cx="5760720" cy="192024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Many readmissions within 30 days of discharge are preventable if the care team knows who is at risk, and why, while there is still time to act. Preventra scores every patient at discharge, re-scores them each week for 30 days, and routes what matters to the clinician who owns the patient.</a:t>
            </a:r>
            <a:endParaRPr lang="en-US" sz="1600" dirty="0"/>
          </a:p>
        </p:txBody>
      </p:sp>
      <p:sp>
        <p:nvSpPr>
          <p:cNvPr id="6" name="Stat card 1"/>
          <p:cNvSpPr/>
          <p:nvPr/>
        </p:nvSpPr>
        <p:spPr>
          <a:xfrm>
            <a:off x="7086600" y="822960"/>
            <a:ext cx="4480560" cy="1554480"/>
          </a:xfrm>
          <a:prstGeom prst="roundRect">
            <a:avLst>
              <a:gd name="adj" fmla="val 7059"/>
            </a:avLst>
          </a:prstGeom>
          <a:solidFill>
            <a:schemeClr val="tx2"/>
          </a:solidFill>
          <a:ln/>
        </p:spPr>
      </p:sp>
      <p:sp>
        <p:nvSpPr>
          <p:cNvPr id="7" name="Stat 1"/>
          <p:cNvSpPr txBox="1"/>
          <p:nvPr/>
        </p:nvSpPr>
        <p:spPr>
          <a:xfrm>
            <a:off x="7360920" y="1005840"/>
            <a:ext cx="3931920" cy="594360"/>
          </a:xfrm>
          <a:prstGeom prst="rect">
            <a:avLst/>
          </a:prstGeom>
          <a:noFill/>
          <a:ln/>
        </p:spPr>
        <p:txBody>
          <a:bodyPr wrap="square" lIns="0" tIns="0" rIns="0" bIns="0" rtlCol="0" anchor="ctr"/>
          <a:lstStyle/>
          <a:p>
            <a:pPr indent="0" marL="0">
              <a:buNone/>
            </a:pPr>
            <a:r>
              <a:rPr lang="en-US" sz="3600" b="1" dirty="0">
                <a:solidFill>
                  <a:schemeClr val="accent1"/>
                </a:solidFill>
              </a:rPr>
              <a:t>30 days</a:t>
            </a:r>
            <a:endParaRPr lang="en-US" sz="3600" dirty="0"/>
          </a:p>
        </p:txBody>
      </p:sp>
      <p:sp>
        <p:nvSpPr>
          <p:cNvPr id="8" name="Stat label 1"/>
          <p:cNvSpPr txBox="1"/>
          <p:nvPr/>
        </p:nvSpPr>
        <p:spPr>
          <a:xfrm>
            <a:off x="7360920" y="1627632"/>
            <a:ext cx="3977640" cy="640080"/>
          </a:xfrm>
          <a:prstGeom prst="rect">
            <a:avLst/>
          </a:prstGeom>
          <a:noFill/>
          <a:ln/>
        </p:spPr>
        <p:txBody>
          <a:bodyPr wrap="square" lIns="0" tIns="0" rIns="0" bIns="0" rtlCol="0" anchor="t"/>
          <a:lstStyle/>
          <a:p>
            <a:pPr indent="0" marL="0">
              <a:buNone/>
            </a:pPr>
            <a:r>
              <a:rPr lang="en-US" sz="1400" dirty="0">
                <a:solidFill>
                  <a:schemeClr val="bg1"/>
                </a:solidFill>
              </a:rPr>
              <a:t>Watched after every discharge: a calibrated score at discharge, then a weekly re-score through week 4</a:t>
            </a:r>
            <a:endParaRPr lang="en-US" sz="1400" dirty="0"/>
          </a:p>
        </p:txBody>
      </p:sp>
      <p:sp>
        <p:nvSpPr>
          <p:cNvPr id="9" name="Stat card 2"/>
          <p:cNvSpPr/>
          <p:nvPr/>
        </p:nvSpPr>
        <p:spPr>
          <a:xfrm>
            <a:off x="7086600" y="2606040"/>
            <a:ext cx="4480560" cy="1554480"/>
          </a:xfrm>
          <a:prstGeom prst="roundRect">
            <a:avLst>
              <a:gd name="adj" fmla="val 7059"/>
            </a:avLst>
          </a:prstGeom>
          <a:solidFill>
            <a:schemeClr val="tx2"/>
          </a:solidFill>
          <a:ln/>
        </p:spPr>
      </p:sp>
      <p:sp>
        <p:nvSpPr>
          <p:cNvPr id="10" name="Stat 2"/>
          <p:cNvSpPr txBox="1"/>
          <p:nvPr/>
        </p:nvSpPr>
        <p:spPr>
          <a:xfrm>
            <a:off x="7360920" y="2788920"/>
            <a:ext cx="3931920" cy="594360"/>
          </a:xfrm>
          <a:prstGeom prst="rect">
            <a:avLst/>
          </a:prstGeom>
          <a:noFill/>
          <a:ln/>
        </p:spPr>
        <p:txBody>
          <a:bodyPr wrap="square" lIns="0" tIns="0" rIns="0" bIns="0" rtlCol="0" anchor="ctr"/>
          <a:lstStyle/>
          <a:p>
            <a:pPr indent="0" marL="0">
              <a:buNone/>
            </a:pPr>
            <a:r>
              <a:rPr lang="en-US" sz="3600" b="1" dirty="0">
                <a:solidFill>
                  <a:schemeClr val="accent1"/>
                </a:solidFill>
              </a:rPr>
              <a:t>0.72</a:t>
            </a:r>
            <a:endParaRPr lang="en-US" sz="3600" dirty="0"/>
          </a:p>
        </p:txBody>
      </p:sp>
      <p:sp>
        <p:nvSpPr>
          <p:cNvPr id="11" name="Stat label 2"/>
          <p:cNvSpPr txBox="1"/>
          <p:nvPr/>
        </p:nvSpPr>
        <p:spPr>
          <a:xfrm>
            <a:off x="7360920" y="3410712"/>
            <a:ext cx="3977640" cy="640080"/>
          </a:xfrm>
          <a:prstGeom prst="rect">
            <a:avLst/>
          </a:prstGeom>
          <a:noFill/>
          <a:ln/>
        </p:spPr>
        <p:txBody>
          <a:bodyPr wrap="square" lIns="0" tIns="0" rIns="0" bIns="0" rtlCol="0" anchor="t"/>
          <a:lstStyle/>
          <a:p>
            <a:pPr indent="0" marL="0">
              <a:buNone/>
            </a:pPr>
            <a:r>
              <a:rPr lang="en-US" sz="1400" dirty="0">
                <a:solidFill>
                  <a:schemeClr val="bg1"/>
                </a:solidFill>
              </a:rPr>
              <a:t>AUROC of the built-in discharge model, calibration ratio 1.01 (research benchmark, MIMIC-IV)</a:t>
            </a:r>
            <a:endParaRPr lang="en-US" sz="1400" dirty="0"/>
          </a:p>
        </p:txBody>
      </p:sp>
      <p:sp>
        <p:nvSpPr>
          <p:cNvPr id="12" name="Stat card 3"/>
          <p:cNvSpPr/>
          <p:nvPr/>
        </p:nvSpPr>
        <p:spPr>
          <a:xfrm>
            <a:off x="7086600" y="4389120"/>
            <a:ext cx="4480560" cy="1554480"/>
          </a:xfrm>
          <a:prstGeom prst="roundRect">
            <a:avLst>
              <a:gd name="adj" fmla="val 7059"/>
            </a:avLst>
          </a:prstGeom>
          <a:solidFill>
            <a:schemeClr val="tx2"/>
          </a:solidFill>
          <a:ln/>
        </p:spPr>
      </p:sp>
      <p:sp>
        <p:nvSpPr>
          <p:cNvPr id="13" name="Stat 3"/>
          <p:cNvSpPr txBox="1"/>
          <p:nvPr/>
        </p:nvSpPr>
        <p:spPr>
          <a:xfrm>
            <a:off x="7360920" y="4572000"/>
            <a:ext cx="3931920" cy="594360"/>
          </a:xfrm>
          <a:prstGeom prst="rect">
            <a:avLst/>
          </a:prstGeom>
          <a:noFill/>
          <a:ln/>
        </p:spPr>
        <p:txBody>
          <a:bodyPr wrap="square" lIns="0" tIns="0" rIns="0" bIns="0" rtlCol="0" anchor="ctr"/>
          <a:lstStyle/>
          <a:p>
            <a:pPr indent="0" marL="0">
              <a:buNone/>
            </a:pPr>
            <a:r>
              <a:rPr lang="en-US" sz="3600" b="1" dirty="0">
                <a:solidFill>
                  <a:schemeClr val="accent1"/>
                </a:solidFill>
              </a:rPr>
              <a:t>9 roles</a:t>
            </a:r>
            <a:endParaRPr lang="en-US" sz="3600" dirty="0"/>
          </a:p>
        </p:txBody>
      </p:sp>
      <p:sp>
        <p:nvSpPr>
          <p:cNvPr id="14" name="Stat label 3"/>
          <p:cNvSpPr txBox="1"/>
          <p:nvPr/>
        </p:nvSpPr>
        <p:spPr>
          <a:xfrm>
            <a:off x="7360920" y="5193792"/>
            <a:ext cx="3977640" cy="640080"/>
          </a:xfrm>
          <a:prstGeom prst="rect">
            <a:avLst/>
          </a:prstGeom>
          <a:noFill/>
          <a:ln/>
        </p:spPr>
        <p:txBody>
          <a:bodyPr wrap="square" lIns="0" tIns="0" rIns="0" bIns="0" rtlCol="0" anchor="t"/>
          <a:lstStyle/>
          <a:p>
            <a:pPr indent="0" marL="0">
              <a:buNone/>
            </a:pPr>
            <a:r>
              <a:rPr lang="en-US" sz="1400" dirty="0">
                <a:solidFill>
                  <a:schemeClr val="bg1"/>
                </a:solidFill>
              </a:rPr>
              <a:t>One sign-in. Every page and record is scoped to the person's role and patients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How it works: one loop from data to action</a:t>
            </a:r>
            <a:endParaRPr lang="en-US" sz="3400" dirty="0"/>
          </a:p>
        </p:txBody>
      </p:sp>
      <p:sp>
        <p:nvSpPr>
          <p:cNvPr id="3" name="Step 1 circle"/>
          <p:cNvSpPr/>
          <p:nvPr/>
        </p:nvSpPr>
        <p:spPr>
          <a:xfrm>
            <a:off x="1028700" y="1463040"/>
            <a:ext cx="1051560" cy="1051560"/>
          </a:xfrm>
          <a:prstGeom prst="ellipse">
            <a:avLst/>
          </a:prstGeom>
          <a:solidFill>
            <a:schemeClr val="accent1"/>
          </a:solidFill>
          <a:ln/>
        </p:spPr>
      </p:sp>
      <p:pic>
        <p:nvPicPr>
          <p:cNvPr id="4" name="Step 1 icon" descr="Data in">    </p:cNvPr>
          <p:cNvPicPr>
            <a:picLocks noChangeAspect="1"/>
          </p:cNvPicPr>
          <p:nvPr/>
        </p:nvPicPr>
        <p:blipFill>
          <a:blip r:embed="rId1"/>
          <a:stretch>
            <a:fillRect/>
          </a:stretch>
        </p:blipFill>
        <p:spPr>
          <a:xfrm>
            <a:off x="1303020" y="1737360"/>
            <a:ext cx="502920" cy="502920"/>
          </a:xfrm>
          <a:prstGeom prst="rect">
            <a:avLst/>
          </a:prstGeom>
        </p:spPr>
      </p:pic>
      <p:pic>
        <p:nvPicPr>
          <p:cNvPr id="5" name="Arrow 1" descr="then">    </p:cNvPr>
          <p:cNvPicPr>
            <a:picLocks noChangeAspect="1"/>
          </p:cNvPicPr>
          <p:nvPr/>
        </p:nvPicPr>
        <p:blipFill>
          <a:blip r:embed="rId2"/>
          <a:stretch>
            <a:fillRect/>
          </a:stretch>
        </p:blipFill>
        <p:spPr>
          <a:xfrm>
            <a:off x="2496312" y="1828800"/>
            <a:ext cx="320040" cy="320040"/>
          </a:xfrm>
          <a:prstGeom prst="rect">
            <a:avLst/>
          </a:prstGeom>
        </p:spPr>
      </p:pic>
      <p:sp>
        <p:nvSpPr>
          <p:cNvPr id="6" name="Step 1 heading"/>
          <p:cNvSpPr txBox="1"/>
          <p:nvPr/>
        </p:nvSpPr>
        <p:spPr>
          <a:xfrm>
            <a:off x="548640" y="2697480"/>
            <a:ext cx="2011680" cy="731520"/>
          </a:xfrm>
          <a:prstGeom prst="rect">
            <a:avLst/>
          </a:prstGeom>
          <a:noFill/>
          <a:ln/>
        </p:spPr>
        <p:txBody>
          <a:bodyPr wrap="square" lIns="0" tIns="0" rIns="0" bIns="0" rtlCol="0" anchor="t"/>
          <a:lstStyle/>
          <a:p>
            <a:pPr algn="ctr" indent="0" marL="0">
              <a:buNone/>
            </a:pPr>
            <a:r>
              <a:rPr lang="en-US" sz="1800" b="1" dirty="0">
                <a:solidFill>
                  <a:schemeClr val="accent2"/>
                </a:solidFill>
              </a:rPr>
              <a:t>1  </a:t>
            </a:r>
            <a:pPr algn="ctr" indent="0" marL="0">
              <a:buNone/>
            </a:pPr>
            <a:r>
              <a:rPr lang="en-US" sz="1800" b="1" dirty="0">
                <a:solidFill>
                  <a:schemeClr val="tx1"/>
                </a:solidFill>
              </a:rPr>
              <a:t>Data in</a:t>
            </a:r>
            <a:endParaRPr lang="en-US" sz="1800" dirty="0"/>
          </a:p>
        </p:txBody>
      </p:sp>
      <p:sp>
        <p:nvSpPr>
          <p:cNvPr id="7" name="Step 1 text"/>
          <p:cNvSpPr txBox="1"/>
          <p:nvPr/>
        </p:nvSpPr>
        <p:spPr>
          <a:xfrm>
            <a:off x="548640" y="3474720"/>
            <a:ext cx="2011680" cy="1645920"/>
          </a:xfrm>
          <a:prstGeom prst="rect">
            <a:avLst/>
          </a:prstGeom>
          <a:noFill/>
          <a:ln/>
        </p:spPr>
        <p:txBody>
          <a:bodyPr wrap="square" lIns="0" tIns="0" rIns="0" bIns="0" rtlCol="0" anchor="t"/>
          <a:lstStyle/>
          <a:p>
            <a:pPr algn="l" indent="0" marL="0">
              <a:buNone/>
            </a:pPr>
            <a:r>
              <a:rPr lang="en-US" sz="1400" dirty="0">
                <a:solidFill>
                  <a:schemeClr val="accent6"/>
                </a:solidFill>
              </a:rPr>
              <a:t>Upload exports, connect the hospital's systems, or read its database nightly. Every route is mapped and checked.</a:t>
            </a:r>
            <a:endParaRPr lang="en-US" sz="1400" dirty="0"/>
          </a:p>
        </p:txBody>
      </p:sp>
      <p:sp>
        <p:nvSpPr>
          <p:cNvPr id="8" name="Step 2 circle"/>
          <p:cNvSpPr/>
          <p:nvPr/>
        </p:nvSpPr>
        <p:spPr>
          <a:xfrm>
            <a:off x="3298698" y="1463040"/>
            <a:ext cx="1051560" cy="1051560"/>
          </a:xfrm>
          <a:prstGeom prst="ellipse">
            <a:avLst/>
          </a:prstGeom>
          <a:solidFill>
            <a:schemeClr val="accent1"/>
          </a:solidFill>
          <a:ln/>
        </p:spPr>
      </p:sp>
      <p:pic>
        <p:nvPicPr>
          <p:cNvPr id="9" name="Step 2 icon" descr="Score at discharge">    </p:cNvPr>
          <p:cNvPicPr>
            <a:picLocks noChangeAspect="1"/>
          </p:cNvPicPr>
          <p:nvPr/>
        </p:nvPicPr>
        <p:blipFill>
          <a:blip r:embed="rId3"/>
          <a:stretch>
            <a:fillRect/>
          </a:stretch>
        </p:blipFill>
        <p:spPr>
          <a:xfrm>
            <a:off x="3573018" y="1737360"/>
            <a:ext cx="502920" cy="502920"/>
          </a:xfrm>
          <a:prstGeom prst="rect">
            <a:avLst/>
          </a:prstGeom>
        </p:spPr>
      </p:pic>
      <p:pic>
        <p:nvPicPr>
          <p:cNvPr id="10" name="Arrow 2" descr="then">    </p:cNvPr>
          <p:cNvPicPr>
            <a:picLocks noChangeAspect="1"/>
          </p:cNvPicPr>
          <p:nvPr/>
        </p:nvPicPr>
        <p:blipFill>
          <a:blip r:embed="rId4"/>
          <a:stretch>
            <a:fillRect/>
          </a:stretch>
        </p:blipFill>
        <p:spPr>
          <a:xfrm>
            <a:off x="4766310" y="1828800"/>
            <a:ext cx="320040" cy="320040"/>
          </a:xfrm>
          <a:prstGeom prst="rect">
            <a:avLst/>
          </a:prstGeom>
        </p:spPr>
      </p:pic>
      <p:sp>
        <p:nvSpPr>
          <p:cNvPr id="11" name="Step 2 heading"/>
          <p:cNvSpPr txBox="1"/>
          <p:nvPr/>
        </p:nvSpPr>
        <p:spPr>
          <a:xfrm>
            <a:off x="2818638" y="2697480"/>
            <a:ext cx="2011680" cy="731520"/>
          </a:xfrm>
          <a:prstGeom prst="rect">
            <a:avLst/>
          </a:prstGeom>
          <a:noFill/>
          <a:ln/>
        </p:spPr>
        <p:txBody>
          <a:bodyPr wrap="square" lIns="0" tIns="0" rIns="0" bIns="0" rtlCol="0" anchor="t"/>
          <a:lstStyle/>
          <a:p>
            <a:pPr algn="ctr" indent="0" marL="0">
              <a:buNone/>
            </a:pPr>
            <a:r>
              <a:rPr lang="en-US" sz="1800" b="1" dirty="0">
                <a:solidFill>
                  <a:schemeClr val="accent2"/>
                </a:solidFill>
              </a:rPr>
              <a:t>2  </a:t>
            </a:r>
            <a:pPr algn="ctr" indent="0" marL="0">
              <a:buNone/>
            </a:pPr>
            <a:r>
              <a:rPr lang="en-US" sz="1800" b="1" dirty="0">
                <a:solidFill>
                  <a:schemeClr val="tx1"/>
                </a:solidFill>
              </a:rPr>
              <a:t>Score at discharge</a:t>
            </a:r>
            <a:endParaRPr lang="en-US" sz="1800" dirty="0"/>
          </a:p>
        </p:txBody>
      </p:sp>
      <p:sp>
        <p:nvSpPr>
          <p:cNvPr id="12" name="Step 2 text"/>
          <p:cNvSpPr txBox="1"/>
          <p:nvPr/>
        </p:nvSpPr>
        <p:spPr>
          <a:xfrm>
            <a:off x="2818638" y="3474720"/>
            <a:ext cx="2011680" cy="1645920"/>
          </a:xfrm>
          <a:prstGeom prst="rect">
            <a:avLst/>
          </a:prstGeom>
          <a:noFill/>
          <a:ln/>
        </p:spPr>
        <p:txBody>
          <a:bodyPr wrap="square" lIns="0" tIns="0" rIns="0" bIns="0" rtlCol="0" anchor="t"/>
          <a:lstStyle/>
          <a:p>
            <a:pPr algn="l" indent="0" marL="0">
              <a:buNone/>
            </a:pPr>
            <a:r>
              <a:rPr lang="en-US" sz="1400" dirty="0">
                <a:solidFill>
                  <a:schemeClr val="accent6"/>
                </a:solidFill>
              </a:rPr>
              <a:t>A calibrated model gives each patient a risk, a band and the three drivers behind it.</a:t>
            </a:r>
            <a:endParaRPr lang="en-US" sz="1400" dirty="0"/>
          </a:p>
        </p:txBody>
      </p:sp>
      <p:sp>
        <p:nvSpPr>
          <p:cNvPr id="13" name="Step 3 circle"/>
          <p:cNvSpPr/>
          <p:nvPr/>
        </p:nvSpPr>
        <p:spPr>
          <a:xfrm>
            <a:off x="5568696" y="1463040"/>
            <a:ext cx="1051560" cy="1051560"/>
          </a:xfrm>
          <a:prstGeom prst="ellipse">
            <a:avLst/>
          </a:prstGeom>
          <a:solidFill>
            <a:schemeClr val="accent1"/>
          </a:solidFill>
          <a:ln/>
        </p:spPr>
      </p:sp>
      <p:pic>
        <p:nvPicPr>
          <p:cNvPr id="14" name="Step 3 icon" descr="Monitor weekly">    </p:cNvPr>
          <p:cNvPicPr>
            <a:picLocks noChangeAspect="1"/>
          </p:cNvPicPr>
          <p:nvPr/>
        </p:nvPicPr>
        <p:blipFill>
          <a:blip r:embed="rId5"/>
          <a:stretch>
            <a:fillRect/>
          </a:stretch>
        </p:blipFill>
        <p:spPr>
          <a:xfrm>
            <a:off x="5843016" y="1737360"/>
            <a:ext cx="502920" cy="502920"/>
          </a:xfrm>
          <a:prstGeom prst="rect">
            <a:avLst/>
          </a:prstGeom>
        </p:spPr>
      </p:pic>
      <p:pic>
        <p:nvPicPr>
          <p:cNvPr id="15" name="Arrow 3" descr="then">    </p:cNvPr>
          <p:cNvPicPr>
            <a:picLocks noChangeAspect="1"/>
          </p:cNvPicPr>
          <p:nvPr/>
        </p:nvPicPr>
        <p:blipFill>
          <a:blip r:embed="rId6"/>
          <a:stretch>
            <a:fillRect/>
          </a:stretch>
        </p:blipFill>
        <p:spPr>
          <a:xfrm>
            <a:off x="7036308" y="1828800"/>
            <a:ext cx="320040" cy="320040"/>
          </a:xfrm>
          <a:prstGeom prst="rect">
            <a:avLst/>
          </a:prstGeom>
        </p:spPr>
      </p:pic>
      <p:sp>
        <p:nvSpPr>
          <p:cNvPr id="16" name="Step 3 heading"/>
          <p:cNvSpPr txBox="1"/>
          <p:nvPr/>
        </p:nvSpPr>
        <p:spPr>
          <a:xfrm>
            <a:off x="5088636" y="2697480"/>
            <a:ext cx="2011680" cy="731520"/>
          </a:xfrm>
          <a:prstGeom prst="rect">
            <a:avLst/>
          </a:prstGeom>
          <a:noFill/>
          <a:ln/>
        </p:spPr>
        <p:txBody>
          <a:bodyPr wrap="square" lIns="0" tIns="0" rIns="0" bIns="0" rtlCol="0" anchor="t"/>
          <a:lstStyle/>
          <a:p>
            <a:pPr algn="ctr" indent="0" marL="0">
              <a:buNone/>
            </a:pPr>
            <a:r>
              <a:rPr lang="en-US" sz="1800" b="1" dirty="0">
                <a:solidFill>
                  <a:schemeClr val="accent2"/>
                </a:solidFill>
              </a:rPr>
              <a:t>3  </a:t>
            </a:r>
            <a:pPr algn="ctr" indent="0" marL="0">
              <a:buNone/>
            </a:pPr>
            <a:r>
              <a:rPr lang="en-US" sz="1800" b="1" dirty="0">
                <a:solidFill>
                  <a:schemeClr val="tx1"/>
                </a:solidFill>
              </a:rPr>
              <a:t>Monitor weekly</a:t>
            </a:r>
            <a:endParaRPr lang="en-US" sz="1800" dirty="0"/>
          </a:p>
        </p:txBody>
      </p:sp>
      <p:sp>
        <p:nvSpPr>
          <p:cNvPr id="17" name="Step 3 text"/>
          <p:cNvSpPr txBox="1"/>
          <p:nvPr/>
        </p:nvSpPr>
        <p:spPr>
          <a:xfrm>
            <a:off x="5088636" y="3474720"/>
            <a:ext cx="2011680" cy="1645920"/>
          </a:xfrm>
          <a:prstGeom prst="rect">
            <a:avLst/>
          </a:prstGeom>
          <a:noFill/>
          <a:ln/>
        </p:spPr>
        <p:txBody>
          <a:bodyPr wrap="square" lIns="0" tIns="0" rIns="0" bIns="0" rtlCol="0" anchor="t"/>
          <a:lstStyle/>
          <a:p>
            <a:pPr algn="l" indent="0" marL="0">
              <a:buNone/>
            </a:pPr>
            <a:r>
              <a:rPr lang="en-US" sz="1400" dirty="0">
                <a:solidFill>
                  <a:schemeClr val="accent6"/>
                </a:solidFill>
              </a:rPr>
              <a:t>For four weeks, rules tuned to the patient's condition re-score vitals, symptoms, adherence and refills.</a:t>
            </a:r>
            <a:endParaRPr lang="en-US" sz="1400" dirty="0"/>
          </a:p>
        </p:txBody>
      </p:sp>
      <p:sp>
        <p:nvSpPr>
          <p:cNvPr id="18" name="Step 4 circle"/>
          <p:cNvSpPr/>
          <p:nvPr/>
        </p:nvSpPr>
        <p:spPr>
          <a:xfrm>
            <a:off x="7838694" y="1463040"/>
            <a:ext cx="1051560" cy="1051560"/>
          </a:xfrm>
          <a:prstGeom prst="ellipse">
            <a:avLst/>
          </a:prstGeom>
          <a:solidFill>
            <a:schemeClr val="accent1"/>
          </a:solidFill>
          <a:ln/>
        </p:spPr>
      </p:sp>
      <p:pic>
        <p:nvPicPr>
          <p:cNvPr id="19" name="Step 4 icon" descr="Act">    </p:cNvPr>
          <p:cNvPicPr>
            <a:picLocks noChangeAspect="1"/>
          </p:cNvPicPr>
          <p:nvPr/>
        </p:nvPicPr>
        <p:blipFill>
          <a:blip r:embed="rId7"/>
          <a:stretch>
            <a:fillRect/>
          </a:stretch>
        </p:blipFill>
        <p:spPr>
          <a:xfrm>
            <a:off x="8113014" y="1737360"/>
            <a:ext cx="502920" cy="502920"/>
          </a:xfrm>
          <a:prstGeom prst="rect">
            <a:avLst/>
          </a:prstGeom>
        </p:spPr>
      </p:pic>
      <p:pic>
        <p:nvPicPr>
          <p:cNvPr id="20" name="Arrow 4" descr="then">    </p:cNvPr>
          <p:cNvPicPr>
            <a:picLocks noChangeAspect="1"/>
          </p:cNvPicPr>
          <p:nvPr/>
        </p:nvPicPr>
        <p:blipFill>
          <a:blip r:embed="rId8"/>
          <a:stretch>
            <a:fillRect/>
          </a:stretch>
        </p:blipFill>
        <p:spPr>
          <a:xfrm>
            <a:off x="9306306" y="1828800"/>
            <a:ext cx="320040" cy="320040"/>
          </a:xfrm>
          <a:prstGeom prst="rect">
            <a:avLst/>
          </a:prstGeom>
        </p:spPr>
      </p:pic>
      <p:sp>
        <p:nvSpPr>
          <p:cNvPr id="21" name="Step 4 heading"/>
          <p:cNvSpPr txBox="1"/>
          <p:nvPr/>
        </p:nvSpPr>
        <p:spPr>
          <a:xfrm>
            <a:off x="7358634" y="2697480"/>
            <a:ext cx="2011680" cy="731520"/>
          </a:xfrm>
          <a:prstGeom prst="rect">
            <a:avLst/>
          </a:prstGeom>
          <a:noFill/>
          <a:ln/>
        </p:spPr>
        <p:txBody>
          <a:bodyPr wrap="square" lIns="0" tIns="0" rIns="0" bIns="0" rtlCol="0" anchor="t"/>
          <a:lstStyle/>
          <a:p>
            <a:pPr algn="ctr" indent="0" marL="0">
              <a:buNone/>
            </a:pPr>
            <a:r>
              <a:rPr lang="en-US" sz="1800" b="1" dirty="0">
                <a:solidFill>
                  <a:schemeClr val="accent2"/>
                </a:solidFill>
              </a:rPr>
              <a:t>4  </a:t>
            </a:r>
            <a:pPr algn="ctr" indent="0" marL="0">
              <a:buNone/>
            </a:pPr>
            <a:r>
              <a:rPr lang="en-US" sz="1800" b="1" dirty="0">
                <a:solidFill>
                  <a:schemeClr val="tx1"/>
                </a:solidFill>
              </a:rPr>
              <a:t>Act</a:t>
            </a:r>
            <a:endParaRPr lang="en-US" sz="1800" dirty="0"/>
          </a:p>
        </p:txBody>
      </p:sp>
      <p:sp>
        <p:nvSpPr>
          <p:cNvPr id="22" name="Step 4 text"/>
          <p:cNvSpPr txBox="1"/>
          <p:nvPr/>
        </p:nvSpPr>
        <p:spPr>
          <a:xfrm>
            <a:off x="7358634" y="3474720"/>
            <a:ext cx="2011680" cy="1645920"/>
          </a:xfrm>
          <a:prstGeom prst="rect">
            <a:avLst/>
          </a:prstGeom>
          <a:noFill/>
          <a:ln/>
        </p:spPr>
        <p:txBody>
          <a:bodyPr wrap="square" lIns="0" tIns="0" rIns="0" bIns="0" rtlCol="0" anchor="t"/>
          <a:lstStyle/>
          <a:p>
            <a:pPr algn="l" indent="0" marL="0">
              <a:buNone/>
            </a:pPr>
            <a:r>
              <a:rPr lang="en-US" sz="1400" dirty="0">
                <a:solidFill>
                  <a:schemeClr val="accent6"/>
                </a:solidFill>
              </a:rPr>
              <a:t>Rising risk reaches the patient's own doctor and nurse. Alerts, notes and follow-ups each have an owner.</a:t>
            </a:r>
            <a:endParaRPr lang="en-US" sz="1400" dirty="0"/>
          </a:p>
        </p:txBody>
      </p:sp>
      <p:sp>
        <p:nvSpPr>
          <p:cNvPr id="23" name="Step 5 circle"/>
          <p:cNvSpPr/>
          <p:nvPr/>
        </p:nvSpPr>
        <p:spPr>
          <a:xfrm>
            <a:off x="10108692" y="1463040"/>
            <a:ext cx="1051560" cy="1051560"/>
          </a:xfrm>
          <a:prstGeom prst="ellipse">
            <a:avLst/>
          </a:prstGeom>
          <a:solidFill>
            <a:schemeClr val="accent1"/>
          </a:solidFill>
          <a:ln/>
        </p:spPr>
      </p:sp>
      <p:pic>
        <p:nvPicPr>
          <p:cNvPr id="24" name="Step 5 icon" descr="Improve">    </p:cNvPr>
          <p:cNvPicPr>
            <a:picLocks noChangeAspect="1"/>
          </p:cNvPicPr>
          <p:nvPr/>
        </p:nvPicPr>
        <p:blipFill>
          <a:blip r:embed="rId9"/>
          <a:stretch>
            <a:fillRect/>
          </a:stretch>
        </p:blipFill>
        <p:spPr>
          <a:xfrm>
            <a:off x="10383012" y="1737360"/>
            <a:ext cx="502920" cy="502920"/>
          </a:xfrm>
          <a:prstGeom prst="rect">
            <a:avLst/>
          </a:prstGeom>
        </p:spPr>
      </p:pic>
      <p:sp>
        <p:nvSpPr>
          <p:cNvPr id="25" name="Step 5 heading"/>
          <p:cNvSpPr txBox="1"/>
          <p:nvPr/>
        </p:nvSpPr>
        <p:spPr>
          <a:xfrm>
            <a:off x="9628632" y="2697480"/>
            <a:ext cx="2011680" cy="731520"/>
          </a:xfrm>
          <a:prstGeom prst="rect">
            <a:avLst/>
          </a:prstGeom>
          <a:noFill/>
          <a:ln/>
        </p:spPr>
        <p:txBody>
          <a:bodyPr wrap="square" lIns="0" tIns="0" rIns="0" bIns="0" rtlCol="0" anchor="t"/>
          <a:lstStyle/>
          <a:p>
            <a:pPr algn="ctr" indent="0" marL="0">
              <a:buNone/>
            </a:pPr>
            <a:r>
              <a:rPr lang="en-US" sz="1800" b="1" dirty="0">
                <a:solidFill>
                  <a:schemeClr val="accent2"/>
                </a:solidFill>
              </a:rPr>
              <a:t>5  </a:t>
            </a:r>
            <a:pPr algn="ctr" indent="0" marL="0">
              <a:buNone/>
            </a:pPr>
            <a:r>
              <a:rPr lang="en-US" sz="1800" b="1" dirty="0">
                <a:solidFill>
                  <a:schemeClr val="tx1"/>
                </a:solidFill>
              </a:rPr>
              <a:t>Improve</a:t>
            </a:r>
            <a:endParaRPr lang="en-US" sz="1800" dirty="0"/>
          </a:p>
        </p:txBody>
      </p:sp>
      <p:sp>
        <p:nvSpPr>
          <p:cNvPr id="26" name="Step 5 text"/>
          <p:cNvSpPr txBox="1"/>
          <p:nvPr/>
        </p:nvSpPr>
        <p:spPr>
          <a:xfrm>
            <a:off x="9628632" y="3474720"/>
            <a:ext cx="2011680" cy="1645920"/>
          </a:xfrm>
          <a:prstGeom prst="rect">
            <a:avLst/>
          </a:prstGeom>
          <a:noFill/>
          <a:ln/>
        </p:spPr>
        <p:txBody>
          <a:bodyPr wrap="square" lIns="0" tIns="0" rIns="0" bIns="0" rtlCol="0" anchor="t"/>
          <a:lstStyle/>
          <a:p>
            <a:pPr algn="l" indent="0" marL="0">
              <a:buNone/>
            </a:pPr>
            <a:r>
              <a:rPr lang="en-US" sz="1400" dirty="0">
                <a:solidFill>
                  <a:schemeClr val="accent6"/>
                </a:solidFill>
              </a:rPr>
              <a:t>Model Studio trains on the hospital's own outcomes, tests honestly, and deploys only what passes.</a:t>
            </a:r>
            <a:endParaRPr lang="en-US" sz="1400" dirty="0"/>
          </a:p>
        </p:txBody>
      </p:sp>
      <p:sp>
        <p:nvSpPr>
          <p:cNvPr id="27" name="Decision support box"/>
          <p:cNvSpPr/>
          <p:nvPr/>
        </p:nvSpPr>
        <p:spPr>
          <a:xfrm>
            <a:off x="548640" y="5257800"/>
            <a:ext cx="11091672" cy="777240"/>
          </a:xfrm>
          <a:prstGeom prst="roundRect">
            <a:avLst>
              <a:gd name="adj" fmla="val 11765"/>
            </a:avLst>
          </a:prstGeom>
          <a:solidFill>
            <a:schemeClr val="bg2"/>
          </a:solidFill>
          <a:ln/>
        </p:spPr>
      </p:sp>
      <p:pic>
        <p:nvPicPr>
          <p:cNvPr id="28" name="Shield icon" descr="Decision support">    </p:cNvPr>
          <p:cNvPicPr>
            <a:picLocks noChangeAspect="1"/>
          </p:cNvPicPr>
          <p:nvPr/>
        </p:nvPicPr>
        <p:blipFill>
          <a:blip r:embed="rId10"/>
          <a:stretch>
            <a:fillRect/>
          </a:stretch>
        </p:blipFill>
        <p:spPr>
          <a:xfrm>
            <a:off x="777240" y="5440680"/>
            <a:ext cx="411480" cy="411480"/>
          </a:xfrm>
          <a:prstGeom prst="rect">
            <a:avLst/>
          </a:prstGeom>
        </p:spPr>
      </p:pic>
      <p:sp>
        <p:nvSpPr>
          <p:cNvPr id="29" name="Decision support text"/>
          <p:cNvSpPr txBox="1"/>
          <p:nvPr/>
        </p:nvSpPr>
        <p:spPr>
          <a:xfrm>
            <a:off x="1371600" y="5303520"/>
            <a:ext cx="10058400" cy="685800"/>
          </a:xfrm>
          <a:prstGeom prst="rect">
            <a:avLst/>
          </a:prstGeom>
          <a:noFill/>
          <a:ln/>
        </p:spPr>
        <p:txBody>
          <a:bodyPr wrap="square" lIns="0" tIns="0" rIns="0" bIns="0" rtlCol="0" anchor="ctr"/>
          <a:lstStyle/>
          <a:p>
            <a:pPr indent="0" marL="0">
              <a:buNone/>
            </a:pPr>
            <a:r>
              <a:rPr lang="en-US" sz="1400" b="1" dirty="0">
                <a:solidFill>
                  <a:schemeClr val="tx1"/>
                </a:solidFill>
              </a:rPr>
              <a:t>Decision support, not decision making. </a:t>
            </a:r>
            <a:pPr indent="0" marL="0">
              <a:buNone/>
            </a:pPr>
            <a:r>
              <a:rPr lang="en-US" sz="1400" dirty="0">
                <a:solidFill>
                  <a:schemeClr val="tx1"/>
                </a:solidFill>
              </a:rPr>
              <a:t>Scores, drivers and alerts inform the care team; clinicians make every care decision. Outcomes from each discharge become training data for the next model.</a:t>
            </a:r>
            <a:endParaRPr lang="en-US" sz="1400" dirty="0"/>
          </a:p>
        </p:txBody>
      </p:sp>
      <p:sp>
        <p:nvSpPr>
          <p:cNvPr id="25" name="Slide Number Placeholder 0"/>
          <p:cNvSpPr>
            <a:spLocks noGrp="1"/>
          </p:cNvSpPr>
          <p:nvPr>
            <p:ph type="sldNum" sz="quarter" idx="4294967295"/>
          </p:nvPr>
        </p:nvSpPr>
        <p:spPr>
          <a:xfrm>
            <a:off x="1078992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What's built: a home for every role</a:t>
            </a:r>
            <a:endParaRPr lang="en-US" sz="3400" dirty="0"/>
          </a:p>
        </p:txBody>
      </p:sp>
      <p:sp>
        <p:nvSpPr>
          <p:cNvPr id="3" name="Care team card"/>
          <p:cNvSpPr/>
          <p:nvPr/>
        </p:nvSpPr>
        <p:spPr>
          <a:xfrm>
            <a:off x="548640" y="1188720"/>
            <a:ext cx="5408676" cy="2103120"/>
          </a:xfrm>
          <a:prstGeom prst="roundRect">
            <a:avLst>
              <a:gd name="adj" fmla="val 5217"/>
            </a:avLst>
          </a:prstGeom>
          <a:solidFill>
            <a:schemeClr val="bg2"/>
          </a:solidFill>
          <a:ln/>
        </p:spPr>
      </p:sp>
      <p:sp>
        <p:nvSpPr>
          <p:cNvPr id="4" name="Care team icon circle"/>
          <p:cNvSpPr/>
          <p:nvPr/>
        </p:nvSpPr>
        <p:spPr>
          <a:xfrm>
            <a:off x="822960" y="1444752"/>
            <a:ext cx="640080" cy="640080"/>
          </a:xfrm>
          <a:prstGeom prst="ellipse">
            <a:avLst/>
          </a:prstGeom>
          <a:solidFill>
            <a:schemeClr val="accent1"/>
          </a:solidFill>
          <a:ln/>
        </p:spPr>
      </p:sp>
      <p:pic>
        <p:nvPicPr>
          <p:cNvPr id="5" name="Care team icon" descr="Care team">    </p:cNvPr>
          <p:cNvPicPr>
            <a:picLocks noChangeAspect="1"/>
          </p:cNvPicPr>
          <p:nvPr/>
        </p:nvPicPr>
        <p:blipFill>
          <a:blip r:embed="rId1"/>
          <a:stretch>
            <a:fillRect/>
          </a:stretch>
        </p:blipFill>
        <p:spPr>
          <a:xfrm>
            <a:off x="960120" y="1581912"/>
            <a:ext cx="365760" cy="365760"/>
          </a:xfrm>
          <a:prstGeom prst="rect">
            <a:avLst/>
          </a:prstGeom>
        </p:spPr>
      </p:pic>
      <p:sp>
        <p:nvSpPr>
          <p:cNvPr id="6" name="Care team heading"/>
          <p:cNvSpPr txBox="1"/>
          <p:nvPr/>
        </p:nvSpPr>
        <p:spPr>
          <a:xfrm>
            <a:off x="1645920" y="1417320"/>
            <a:ext cx="4082796" cy="384048"/>
          </a:xfrm>
          <a:prstGeom prst="rect">
            <a:avLst/>
          </a:prstGeom>
          <a:noFill/>
          <a:ln/>
        </p:spPr>
        <p:txBody>
          <a:bodyPr wrap="square" lIns="0" tIns="0" rIns="0" bIns="0" rtlCol="0" anchor="ctr"/>
          <a:lstStyle/>
          <a:p>
            <a:pPr indent="0" marL="0">
              <a:buNone/>
            </a:pPr>
            <a:r>
              <a:rPr lang="en-US" sz="2000" b="1" dirty="0">
                <a:solidFill>
                  <a:schemeClr val="tx1"/>
                </a:solidFill>
              </a:rPr>
              <a:t>Care team</a:t>
            </a:r>
            <a:endParaRPr lang="en-US" sz="2000" dirty="0"/>
          </a:p>
        </p:txBody>
      </p:sp>
      <p:sp>
        <p:nvSpPr>
          <p:cNvPr id="7" name="Care team roles"/>
          <p:cNvSpPr txBox="1"/>
          <p:nvPr/>
        </p:nvSpPr>
        <p:spPr>
          <a:xfrm>
            <a:off x="1645920" y="1801368"/>
            <a:ext cx="4082796" cy="274320"/>
          </a:xfrm>
          <a:prstGeom prst="rect">
            <a:avLst/>
          </a:prstGeom>
          <a:noFill/>
          <a:ln/>
        </p:spPr>
        <p:txBody>
          <a:bodyPr wrap="square" lIns="0" tIns="0" rIns="0" bIns="0" rtlCol="0" anchor="ctr"/>
          <a:lstStyle/>
          <a:p>
            <a:pPr indent="0" marL="0">
              <a:buNone/>
            </a:pPr>
            <a:r>
              <a:rPr lang="en-US" sz="1200" dirty="0">
                <a:solidFill>
                  <a:schemeClr val="accent6"/>
                </a:solidFill>
              </a:rPr>
              <a:t>Doctors, nurses, case managers</a:t>
            </a:r>
            <a:endParaRPr lang="en-US" sz="1200" dirty="0"/>
          </a:p>
        </p:txBody>
      </p:sp>
      <p:sp>
        <p:nvSpPr>
          <p:cNvPr id="8" name="Care team list 1"/>
          <p:cNvSpPr txBox="1"/>
          <p:nvPr/>
        </p:nvSpPr>
        <p:spPr>
          <a:xfrm>
            <a:off x="822960" y="2148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My patients</a:t>
            </a:r>
            <a:endParaRPr lang="en-US" sz="1400" dirty="0"/>
          </a:p>
          <a:p>
            <a:pPr marL="203200" indent="-203200">
              <a:spcAft>
                <a:spcPts val="200"/>
              </a:spcAft>
              <a:buSzPct val="100000"/>
              <a:buChar char="•"/>
            </a:pPr>
            <a:r>
              <a:rPr lang="en-US" sz="1400" dirty="0">
                <a:solidFill>
                  <a:schemeClr val="tx1"/>
                </a:solidFill>
              </a:rPr>
              <a:t>Patient worklist</a:t>
            </a:r>
            <a:endParaRPr lang="en-US" sz="1400" dirty="0"/>
          </a:p>
          <a:p>
            <a:pPr marL="203200" indent="-203200">
              <a:spcAft>
                <a:spcPts val="200"/>
              </a:spcAft>
              <a:buSzPct val="100000"/>
              <a:buChar char="•"/>
            </a:pPr>
            <a:r>
              <a:rPr lang="en-US" sz="1400" dirty="0">
                <a:solidFill>
                  <a:schemeClr val="tx1"/>
                </a:solidFill>
              </a:rPr>
              <a:t>Patient record</a:t>
            </a:r>
            <a:endParaRPr lang="en-US" sz="1400" dirty="0"/>
          </a:p>
          <a:p>
            <a:pPr marL="203200" indent="-203200">
              <a:spcAft>
                <a:spcPts val="200"/>
              </a:spcAft>
              <a:buSzPct val="100000"/>
              <a:buChar char="•"/>
            </a:pPr>
            <a:r>
              <a:rPr lang="en-US" sz="1400" dirty="0">
                <a:solidFill>
                  <a:schemeClr val="tx1"/>
                </a:solidFill>
              </a:rPr>
              <a:t>Weekly trend</a:t>
            </a:r>
            <a:endParaRPr lang="en-US" sz="1400" dirty="0"/>
          </a:p>
        </p:txBody>
      </p:sp>
      <p:sp>
        <p:nvSpPr>
          <p:cNvPr id="9" name="Care team list 2"/>
          <p:cNvSpPr txBox="1"/>
          <p:nvPr/>
        </p:nvSpPr>
        <p:spPr>
          <a:xfrm>
            <a:off x="3383280" y="2148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Alerts and console</a:t>
            </a:r>
            <a:endParaRPr lang="en-US" sz="1400" dirty="0"/>
          </a:p>
          <a:p>
            <a:pPr marL="203200" indent="-203200">
              <a:spcAft>
                <a:spcPts val="200"/>
              </a:spcAft>
              <a:buSzPct val="100000"/>
              <a:buChar char="•"/>
            </a:pPr>
            <a:r>
              <a:rPr lang="en-US" sz="1400" dirty="0">
                <a:solidFill>
                  <a:schemeClr val="tx1"/>
                </a:solidFill>
              </a:rPr>
              <a:t>Follow-ups</a:t>
            </a:r>
            <a:endParaRPr lang="en-US" sz="1400" dirty="0"/>
          </a:p>
          <a:p>
            <a:pPr marL="203200" indent="-203200">
              <a:spcAft>
                <a:spcPts val="200"/>
              </a:spcAft>
              <a:buSzPct val="100000"/>
              <a:buChar char="•"/>
            </a:pPr>
            <a:r>
              <a:rPr lang="en-US" sz="1400" dirty="0">
                <a:solidFill>
                  <a:schemeClr val="tx1"/>
                </a:solidFill>
              </a:rPr>
              <a:t>AI assistant</a:t>
            </a:r>
            <a:endParaRPr lang="en-US" sz="1400" dirty="0"/>
          </a:p>
        </p:txBody>
      </p:sp>
      <p:sp>
        <p:nvSpPr>
          <p:cNvPr id="10" name="Running the hospital card"/>
          <p:cNvSpPr/>
          <p:nvPr/>
        </p:nvSpPr>
        <p:spPr>
          <a:xfrm>
            <a:off x="6231636" y="1188720"/>
            <a:ext cx="5408676" cy="2103120"/>
          </a:xfrm>
          <a:prstGeom prst="roundRect">
            <a:avLst>
              <a:gd name="adj" fmla="val 5217"/>
            </a:avLst>
          </a:prstGeom>
          <a:solidFill>
            <a:schemeClr val="bg2"/>
          </a:solidFill>
          <a:ln/>
        </p:spPr>
      </p:sp>
      <p:sp>
        <p:nvSpPr>
          <p:cNvPr id="11" name="Running the hospital icon circle"/>
          <p:cNvSpPr/>
          <p:nvPr/>
        </p:nvSpPr>
        <p:spPr>
          <a:xfrm>
            <a:off x="6505956" y="1444752"/>
            <a:ext cx="640080" cy="640080"/>
          </a:xfrm>
          <a:prstGeom prst="ellipse">
            <a:avLst/>
          </a:prstGeom>
          <a:solidFill>
            <a:schemeClr val="accent1"/>
          </a:solidFill>
          <a:ln/>
        </p:spPr>
      </p:sp>
      <p:pic>
        <p:nvPicPr>
          <p:cNvPr id="12" name="Running the hospital icon" descr="Running the hospital">    </p:cNvPr>
          <p:cNvPicPr>
            <a:picLocks noChangeAspect="1"/>
          </p:cNvPicPr>
          <p:nvPr/>
        </p:nvPicPr>
        <p:blipFill>
          <a:blip r:embed="rId2"/>
          <a:stretch>
            <a:fillRect/>
          </a:stretch>
        </p:blipFill>
        <p:spPr>
          <a:xfrm>
            <a:off x="6643116" y="1581912"/>
            <a:ext cx="365760" cy="365760"/>
          </a:xfrm>
          <a:prstGeom prst="rect">
            <a:avLst/>
          </a:prstGeom>
        </p:spPr>
      </p:pic>
      <p:sp>
        <p:nvSpPr>
          <p:cNvPr id="13" name="Running the hospital heading"/>
          <p:cNvSpPr txBox="1"/>
          <p:nvPr/>
        </p:nvSpPr>
        <p:spPr>
          <a:xfrm>
            <a:off x="7328916" y="1417320"/>
            <a:ext cx="4082796" cy="384048"/>
          </a:xfrm>
          <a:prstGeom prst="rect">
            <a:avLst/>
          </a:prstGeom>
          <a:noFill/>
          <a:ln/>
        </p:spPr>
        <p:txBody>
          <a:bodyPr wrap="square" lIns="0" tIns="0" rIns="0" bIns="0" rtlCol="0" anchor="ctr"/>
          <a:lstStyle/>
          <a:p>
            <a:pPr indent="0" marL="0">
              <a:buNone/>
            </a:pPr>
            <a:r>
              <a:rPr lang="en-US" sz="2000" b="1" dirty="0">
                <a:solidFill>
                  <a:schemeClr val="tx1"/>
                </a:solidFill>
              </a:rPr>
              <a:t>Running the hospital</a:t>
            </a:r>
            <a:endParaRPr lang="en-US" sz="2000" dirty="0"/>
          </a:p>
        </p:txBody>
      </p:sp>
      <p:sp>
        <p:nvSpPr>
          <p:cNvPr id="14" name="Running the hospital roles"/>
          <p:cNvSpPr txBox="1"/>
          <p:nvPr/>
        </p:nvSpPr>
        <p:spPr>
          <a:xfrm>
            <a:off x="7328916" y="1801368"/>
            <a:ext cx="4082796" cy="274320"/>
          </a:xfrm>
          <a:prstGeom prst="rect">
            <a:avLst/>
          </a:prstGeom>
          <a:noFill/>
          <a:ln/>
        </p:spPr>
        <p:txBody>
          <a:bodyPr wrap="square" lIns="0" tIns="0" rIns="0" bIns="0" rtlCol="0" anchor="ctr"/>
          <a:lstStyle/>
          <a:p>
            <a:pPr indent="0" marL="0">
              <a:buNone/>
            </a:pPr>
            <a:r>
              <a:rPr lang="en-US" sz="1200" dirty="0">
                <a:solidFill>
                  <a:schemeClr val="accent6"/>
                </a:solidFill>
              </a:rPr>
              <a:t>Hospital admins</a:t>
            </a:r>
            <a:endParaRPr lang="en-US" sz="1200" dirty="0"/>
          </a:p>
        </p:txBody>
      </p:sp>
      <p:sp>
        <p:nvSpPr>
          <p:cNvPr id="15" name="Running the hospital list 1"/>
          <p:cNvSpPr txBox="1"/>
          <p:nvPr/>
        </p:nvSpPr>
        <p:spPr>
          <a:xfrm>
            <a:off x="6505956" y="2148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Overview</a:t>
            </a:r>
            <a:endParaRPr lang="en-US" sz="1400" dirty="0"/>
          </a:p>
          <a:p>
            <a:pPr marL="203200" indent="-203200">
              <a:spcAft>
                <a:spcPts val="200"/>
              </a:spcAft>
              <a:buSzPct val="100000"/>
              <a:buChar char="•"/>
            </a:pPr>
            <a:r>
              <a:rPr lang="en-US" sz="1400" dirty="0">
                <a:solidFill>
                  <a:schemeClr val="tx1"/>
                </a:solidFill>
              </a:rPr>
              <a:t>Staff and assignment</a:t>
            </a:r>
            <a:endParaRPr lang="en-US" sz="1400" dirty="0"/>
          </a:p>
          <a:p>
            <a:pPr marL="203200" indent="-203200">
              <a:spcAft>
                <a:spcPts val="200"/>
              </a:spcAft>
              <a:buSzPct val="100000"/>
              <a:buChar char="•"/>
            </a:pPr>
            <a:r>
              <a:rPr lang="en-US" sz="1400" dirty="0">
                <a:solidFill>
                  <a:schemeClr val="tx1"/>
                </a:solidFill>
              </a:rPr>
              <a:t>Analytics</a:t>
            </a:r>
            <a:endParaRPr lang="en-US" sz="1400" dirty="0"/>
          </a:p>
        </p:txBody>
      </p:sp>
      <p:sp>
        <p:nvSpPr>
          <p:cNvPr id="16" name="Running the hospital list 2"/>
          <p:cNvSpPr txBox="1"/>
          <p:nvPr/>
        </p:nvSpPr>
        <p:spPr>
          <a:xfrm>
            <a:off x="9066276" y="2148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Users and approvals</a:t>
            </a:r>
            <a:endParaRPr lang="en-US" sz="1400" dirty="0"/>
          </a:p>
          <a:p>
            <a:pPr marL="203200" indent="-203200">
              <a:spcAft>
                <a:spcPts val="200"/>
              </a:spcAft>
              <a:buSzPct val="100000"/>
              <a:buChar char="•"/>
            </a:pPr>
            <a:r>
              <a:rPr lang="en-US" sz="1400" dirty="0">
                <a:solidFill>
                  <a:schemeClr val="tx1"/>
                </a:solidFill>
              </a:rPr>
              <a:t>Access log</a:t>
            </a:r>
            <a:endParaRPr lang="en-US" sz="1400" dirty="0"/>
          </a:p>
          <a:p>
            <a:pPr marL="203200" indent="-203200">
              <a:spcAft>
                <a:spcPts val="200"/>
              </a:spcAft>
              <a:buSzPct val="100000"/>
              <a:buChar char="•"/>
            </a:pPr>
            <a:r>
              <a:rPr lang="en-US" sz="1400" dirty="0">
                <a:solidFill>
                  <a:schemeClr val="tx1"/>
                </a:solidFill>
              </a:rPr>
              <a:t>Emergency review</a:t>
            </a:r>
            <a:endParaRPr lang="en-US" sz="1400" dirty="0"/>
          </a:p>
        </p:txBody>
      </p:sp>
      <p:sp>
        <p:nvSpPr>
          <p:cNvPr id="17" name="Data and models card"/>
          <p:cNvSpPr/>
          <p:nvPr/>
        </p:nvSpPr>
        <p:spPr>
          <a:xfrm>
            <a:off x="548640" y="3474720"/>
            <a:ext cx="5408676" cy="2103120"/>
          </a:xfrm>
          <a:prstGeom prst="roundRect">
            <a:avLst>
              <a:gd name="adj" fmla="val 5217"/>
            </a:avLst>
          </a:prstGeom>
          <a:solidFill>
            <a:schemeClr val="bg2"/>
          </a:solidFill>
          <a:ln/>
        </p:spPr>
      </p:sp>
      <p:sp>
        <p:nvSpPr>
          <p:cNvPr id="18" name="Data and models icon circle"/>
          <p:cNvSpPr/>
          <p:nvPr/>
        </p:nvSpPr>
        <p:spPr>
          <a:xfrm>
            <a:off x="822960" y="3730752"/>
            <a:ext cx="640080" cy="640080"/>
          </a:xfrm>
          <a:prstGeom prst="ellipse">
            <a:avLst/>
          </a:prstGeom>
          <a:solidFill>
            <a:schemeClr val="accent1"/>
          </a:solidFill>
          <a:ln/>
        </p:spPr>
      </p:sp>
      <p:pic>
        <p:nvPicPr>
          <p:cNvPr id="19" name="Data and models icon" descr="Data and models">    </p:cNvPr>
          <p:cNvPicPr>
            <a:picLocks noChangeAspect="1"/>
          </p:cNvPicPr>
          <p:nvPr/>
        </p:nvPicPr>
        <p:blipFill>
          <a:blip r:embed="rId3"/>
          <a:stretch>
            <a:fillRect/>
          </a:stretch>
        </p:blipFill>
        <p:spPr>
          <a:xfrm>
            <a:off x="960120" y="3867912"/>
            <a:ext cx="365760" cy="365760"/>
          </a:xfrm>
          <a:prstGeom prst="rect">
            <a:avLst/>
          </a:prstGeom>
        </p:spPr>
      </p:pic>
      <p:sp>
        <p:nvSpPr>
          <p:cNvPr id="20" name="Data and models heading"/>
          <p:cNvSpPr txBox="1"/>
          <p:nvPr/>
        </p:nvSpPr>
        <p:spPr>
          <a:xfrm>
            <a:off x="1645920" y="3703320"/>
            <a:ext cx="4082796" cy="384048"/>
          </a:xfrm>
          <a:prstGeom prst="rect">
            <a:avLst/>
          </a:prstGeom>
          <a:noFill/>
          <a:ln/>
        </p:spPr>
        <p:txBody>
          <a:bodyPr wrap="square" lIns="0" tIns="0" rIns="0" bIns="0" rtlCol="0" anchor="ctr"/>
          <a:lstStyle/>
          <a:p>
            <a:pPr indent="0" marL="0">
              <a:buNone/>
            </a:pPr>
            <a:r>
              <a:rPr lang="en-US" sz="2000" b="1" dirty="0">
                <a:solidFill>
                  <a:schemeClr val="tx1"/>
                </a:solidFill>
              </a:rPr>
              <a:t>Data and models</a:t>
            </a:r>
            <a:endParaRPr lang="en-US" sz="2000" dirty="0"/>
          </a:p>
        </p:txBody>
      </p:sp>
      <p:sp>
        <p:nvSpPr>
          <p:cNvPr id="21" name="Data and models roles"/>
          <p:cNvSpPr txBox="1"/>
          <p:nvPr/>
        </p:nvSpPr>
        <p:spPr>
          <a:xfrm>
            <a:off x="1645920" y="4087368"/>
            <a:ext cx="4082796" cy="274320"/>
          </a:xfrm>
          <a:prstGeom prst="rect">
            <a:avLst/>
          </a:prstGeom>
          <a:noFill/>
          <a:ln/>
        </p:spPr>
        <p:txBody>
          <a:bodyPr wrap="square" lIns="0" tIns="0" rIns="0" bIns="0" rtlCol="0" anchor="ctr"/>
          <a:lstStyle/>
          <a:p>
            <a:pPr indent="0" marL="0">
              <a:buNone/>
            </a:pPr>
            <a:r>
              <a:rPr lang="en-US" sz="1200" dirty="0">
                <a:solidFill>
                  <a:schemeClr val="accent6"/>
                </a:solidFill>
              </a:rPr>
              <a:t>Hospital admins, superadmin</a:t>
            </a:r>
            <a:endParaRPr lang="en-US" sz="1200" dirty="0"/>
          </a:p>
        </p:txBody>
      </p:sp>
      <p:sp>
        <p:nvSpPr>
          <p:cNvPr id="22" name="Data and models list 1"/>
          <p:cNvSpPr txBox="1"/>
          <p:nvPr/>
        </p:nvSpPr>
        <p:spPr>
          <a:xfrm>
            <a:off x="822960" y="4434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Upload and mapping</a:t>
            </a:r>
            <a:endParaRPr lang="en-US" sz="1400" dirty="0"/>
          </a:p>
          <a:p>
            <a:pPr marL="203200" indent="-203200">
              <a:spcAft>
                <a:spcPts val="200"/>
              </a:spcAft>
              <a:buSzPct val="100000"/>
              <a:buChar char="•"/>
            </a:pPr>
            <a:r>
              <a:rPr lang="en-US" sz="1400" dirty="0">
                <a:solidFill>
                  <a:schemeClr val="tx1"/>
                </a:solidFill>
              </a:rPr>
              <a:t>Database connections</a:t>
            </a:r>
            <a:endParaRPr lang="en-US" sz="1400" dirty="0"/>
          </a:p>
          <a:p>
            <a:pPr marL="203200" indent="-203200">
              <a:spcAft>
                <a:spcPts val="200"/>
              </a:spcAft>
              <a:buSzPct val="100000"/>
              <a:buChar char="•"/>
            </a:pPr>
            <a:r>
              <a:rPr lang="en-US" sz="1400" dirty="0">
                <a:solidFill>
                  <a:schemeClr val="tx1"/>
                </a:solidFill>
              </a:rPr>
              <a:t>Ingest API and worker</a:t>
            </a:r>
            <a:endParaRPr lang="en-US" sz="1400" dirty="0"/>
          </a:p>
        </p:txBody>
      </p:sp>
      <p:sp>
        <p:nvSpPr>
          <p:cNvPr id="23" name="Data and models list 2"/>
          <p:cNvSpPr txBox="1"/>
          <p:nvPr/>
        </p:nvSpPr>
        <p:spPr>
          <a:xfrm>
            <a:off x="3383280" y="4434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Model Studio</a:t>
            </a:r>
            <a:endParaRPr lang="en-US" sz="1400" dirty="0"/>
          </a:p>
          <a:p>
            <a:pPr marL="203200" indent="-203200">
              <a:spcAft>
                <a:spcPts val="200"/>
              </a:spcAft>
              <a:buSzPct val="100000"/>
              <a:buChar char="•"/>
            </a:pPr>
            <a:r>
              <a:rPr lang="en-US" sz="1400" dirty="0">
                <a:solidFill>
                  <a:schemeClr val="tx1"/>
                </a:solidFill>
              </a:rPr>
              <a:t>Model library</a:t>
            </a:r>
            <a:endParaRPr lang="en-US" sz="1400" dirty="0"/>
          </a:p>
          <a:p>
            <a:pPr marL="203200" indent="-203200">
              <a:spcAft>
                <a:spcPts val="200"/>
              </a:spcAft>
              <a:buSzPct val="100000"/>
              <a:buChar char="•"/>
            </a:pPr>
            <a:r>
              <a:rPr lang="en-US" sz="1400" dirty="0">
                <a:solidFill>
                  <a:schemeClr val="tx1"/>
                </a:solidFill>
              </a:rPr>
              <a:t>AI provider settings</a:t>
            </a:r>
            <a:endParaRPr lang="en-US" sz="1400" dirty="0"/>
          </a:p>
        </p:txBody>
      </p:sp>
      <p:sp>
        <p:nvSpPr>
          <p:cNvPr id="24" name="Beyond the hospital card"/>
          <p:cNvSpPr/>
          <p:nvPr/>
        </p:nvSpPr>
        <p:spPr>
          <a:xfrm>
            <a:off x="6231636" y="3474720"/>
            <a:ext cx="5408676" cy="2103120"/>
          </a:xfrm>
          <a:prstGeom prst="roundRect">
            <a:avLst>
              <a:gd name="adj" fmla="val 5217"/>
            </a:avLst>
          </a:prstGeom>
          <a:solidFill>
            <a:schemeClr val="bg2"/>
          </a:solidFill>
          <a:ln/>
        </p:spPr>
      </p:sp>
      <p:sp>
        <p:nvSpPr>
          <p:cNvPr id="25" name="Beyond the hospital icon circle"/>
          <p:cNvSpPr/>
          <p:nvPr/>
        </p:nvSpPr>
        <p:spPr>
          <a:xfrm>
            <a:off x="6505956" y="3730752"/>
            <a:ext cx="640080" cy="640080"/>
          </a:xfrm>
          <a:prstGeom prst="ellipse">
            <a:avLst/>
          </a:prstGeom>
          <a:solidFill>
            <a:schemeClr val="accent1"/>
          </a:solidFill>
          <a:ln/>
        </p:spPr>
      </p:sp>
      <p:pic>
        <p:nvPicPr>
          <p:cNvPr id="26" name="Beyond the hospital icon" descr="Beyond the hospital">    </p:cNvPr>
          <p:cNvPicPr>
            <a:picLocks noChangeAspect="1"/>
          </p:cNvPicPr>
          <p:nvPr/>
        </p:nvPicPr>
        <p:blipFill>
          <a:blip r:embed="rId4"/>
          <a:stretch>
            <a:fillRect/>
          </a:stretch>
        </p:blipFill>
        <p:spPr>
          <a:xfrm>
            <a:off x="6643116" y="3867912"/>
            <a:ext cx="365760" cy="365760"/>
          </a:xfrm>
          <a:prstGeom prst="rect">
            <a:avLst/>
          </a:prstGeom>
        </p:spPr>
      </p:pic>
      <p:sp>
        <p:nvSpPr>
          <p:cNvPr id="27" name="Beyond the hospital heading"/>
          <p:cNvSpPr txBox="1"/>
          <p:nvPr/>
        </p:nvSpPr>
        <p:spPr>
          <a:xfrm>
            <a:off x="7328916" y="3703320"/>
            <a:ext cx="4082796" cy="384048"/>
          </a:xfrm>
          <a:prstGeom prst="rect">
            <a:avLst/>
          </a:prstGeom>
          <a:noFill/>
          <a:ln/>
        </p:spPr>
        <p:txBody>
          <a:bodyPr wrap="square" lIns="0" tIns="0" rIns="0" bIns="0" rtlCol="0" anchor="ctr"/>
          <a:lstStyle/>
          <a:p>
            <a:pPr indent="0" marL="0">
              <a:buNone/>
            </a:pPr>
            <a:r>
              <a:rPr lang="en-US" sz="2000" b="1" dirty="0">
                <a:solidFill>
                  <a:schemeClr val="tx1"/>
                </a:solidFill>
              </a:rPr>
              <a:t>Beyond the hospital</a:t>
            </a:r>
            <a:endParaRPr lang="en-US" sz="2000" dirty="0"/>
          </a:p>
        </p:txBody>
      </p:sp>
      <p:sp>
        <p:nvSpPr>
          <p:cNvPr id="28" name="Beyond the hospital roles"/>
          <p:cNvSpPr txBox="1"/>
          <p:nvPr/>
        </p:nvSpPr>
        <p:spPr>
          <a:xfrm>
            <a:off x="7328916" y="4087368"/>
            <a:ext cx="4082796" cy="274320"/>
          </a:xfrm>
          <a:prstGeom prst="rect">
            <a:avLst/>
          </a:prstGeom>
          <a:noFill/>
          <a:ln/>
        </p:spPr>
        <p:txBody>
          <a:bodyPr wrap="square" lIns="0" tIns="0" rIns="0" bIns="0" rtlCol="0" anchor="ctr"/>
          <a:lstStyle/>
          <a:p>
            <a:pPr indent="0" marL="0">
              <a:buNone/>
            </a:pPr>
            <a:r>
              <a:rPr lang="en-US" sz="1200" dirty="0">
                <a:solidFill>
                  <a:schemeClr val="accent6"/>
                </a:solidFill>
              </a:rPr>
              <a:t>Insurers, pharmacies, patients, caretakers</a:t>
            </a:r>
            <a:endParaRPr lang="en-US" sz="1200" dirty="0"/>
          </a:p>
        </p:txBody>
      </p:sp>
      <p:sp>
        <p:nvSpPr>
          <p:cNvPr id="29" name="Beyond the hospital list 1"/>
          <p:cNvSpPr txBox="1"/>
          <p:nvPr/>
        </p:nvSpPr>
        <p:spPr>
          <a:xfrm>
            <a:off x="6505956" y="4434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Insurer members</a:t>
            </a:r>
            <a:endParaRPr lang="en-US" sz="1400" dirty="0"/>
          </a:p>
          <a:p>
            <a:pPr marL="203200" indent="-203200">
              <a:spcAft>
                <a:spcPts val="200"/>
              </a:spcAft>
              <a:buSzPct val="100000"/>
              <a:buChar char="•"/>
            </a:pPr>
            <a:r>
              <a:rPr lang="en-US" sz="1400" dirty="0">
                <a:solidFill>
                  <a:schemeClr val="tx1"/>
                </a:solidFill>
              </a:rPr>
              <a:t>Pharmacy refills</a:t>
            </a:r>
            <a:endParaRPr lang="en-US" sz="1400" dirty="0"/>
          </a:p>
        </p:txBody>
      </p:sp>
      <p:sp>
        <p:nvSpPr>
          <p:cNvPr id="30" name="Beyond the hospital list 2"/>
          <p:cNvSpPr txBox="1"/>
          <p:nvPr/>
        </p:nvSpPr>
        <p:spPr>
          <a:xfrm>
            <a:off x="9066276" y="4434840"/>
            <a:ext cx="2514600" cy="105156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Patient home</a:t>
            </a:r>
            <a:endParaRPr lang="en-US" sz="1400" dirty="0"/>
          </a:p>
          <a:p>
            <a:pPr marL="203200" indent="-203200">
              <a:spcAft>
                <a:spcPts val="200"/>
              </a:spcAft>
              <a:buSzPct val="100000"/>
              <a:buChar char="•"/>
            </a:pPr>
            <a:r>
              <a:rPr lang="en-US" sz="1400" dirty="0">
                <a:solidFill>
                  <a:schemeClr val="tx1"/>
                </a:solidFill>
              </a:rPr>
              <a:t>Caretaker home</a:t>
            </a:r>
            <a:endParaRPr lang="en-US" sz="1400" dirty="0"/>
          </a:p>
        </p:txBody>
      </p:sp>
      <p:sp>
        <p:nvSpPr>
          <p:cNvPr id="31" name="Status line"/>
          <p:cNvSpPr txBox="1"/>
          <p:nvPr/>
        </p:nvSpPr>
        <p:spPr>
          <a:xfrm>
            <a:off x="548640" y="5650992"/>
            <a:ext cx="11091672" cy="640080"/>
          </a:xfrm>
          <a:prstGeom prst="rect">
            <a:avLst/>
          </a:prstGeom>
          <a:noFill/>
          <a:ln/>
        </p:spPr>
        <p:txBody>
          <a:bodyPr wrap="square" lIns="0" tIns="0" rIns="0" bIns="0" rtlCol="0" anchor="ctr"/>
          <a:lstStyle/>
          <a:p>
            <a:pPr indent="0" marL="0">
              <a:buNone/>
            </a:pPr>
            <a:r>
              <a:rPr lang="en-US" sz="1400" b="1" dirty="0">
                <a:solidFill>
                  <a:schemeClr val="accent2"/>
                </a:solidFill>
              </a:rPr>
              <a:t>Built so far: </a:t>
            </a:r>
            <a:pPr indent="0" marL="0">
              <a:buNone/>
            </a:pPr>
            <a:r>
              <a:rPr lang="en-US" sz="1400" dirty="0">
                <a:solidFill>
                  <a:schemeClr val="tx1"/>
                </a:solidFill>
              </a:rPr>
              <a:t>nine roles, data ingestion and scoring, Model Studio, and over 1,000 automated tests.</a:t>
            </a:r>
            <a:endParaRPr lang="en-US" sz="1400" dirty="0"/>
          </a:p>
          <a:p>
            <a:pPr indent="0" marL="0">
              <a:buNone/>
            </a:pPr>
            <a:r>
              <a:rPr lang="en-US" sz="1400" b="1" dirty="0">
                <a:solidFill>
                  <a:schemeClr val="accent2"/>
                </a:solidFill>
              </a:rPr>
              <a:t>Next: </a:t>
            </a:r>
            <a:pPr indent="0" marL="0">
              <a:buNone/>
            </a:pPr>
            <a:r>
              <a:rPr lang="en-US" sz="1400" dirty="0">
                <a:solidFill>
                  <a:schemeClr val="tx1"/>
                </a:solidFill>
              </a:rPr>
              <a:t>clinic data, the clinic's own model, a 2 to 3 month silent run, then the live pilot.</a:t>
            </a:r>
            <a:endParaRPr lang="en-US" sz="1400" dirty="0"/>
          </a:p>
        </p:txBody>
      </p:sp>
      <p:sp>
        <p:nvSpPr>
          <p:cNvPr id="25" name="Slide Number Placeholder 0"/>
          <p:cNvSpPr>
            <a:spLocks noGrp="1"/>
          </p:cNvSpPr>
          <p:nvPr>
            <p:ph type="sldNum" sz="quarter" idx="4294967295"/>
          </p:nvPr>
        </p:nvSpPr>
        <p:spPr>
          <a:xfrm>
            <a:off x="10789920"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Preventra">
  <a:themeElements>
    <a:clrScheme name="Preventra">
      <a:dk1>
        <a:srgbClr val="0E1B2A"/>
      </a:dk1>
      <a:lt1>
        <a:srgbClr val="FFFFFF"/>
      </a:lt1>
      <a:dk2>
        <a:srgbClr val="1D3046"/>
      </a:dk2>
      <a:lt2>
        <a:srgbClr val="F3F7F8"/>
      </a:lt2>
      <a:accent1>
        <a:srgbClr val="3ECFAE"/>
      </a:accent1>
      <a:accent2>
        <a:srgbClr val="21836D"/>
      </a:accent2>
      <a:accent3>
        <a:srgbClr val="C62828"/>
      </a:accent3>
      <a:accent4>
        <a:srgbClr val="C58700"/>
      </a:accent4>
      <a:accent5>
        <a:srgbClr val="2E7D32"/>
      </a:accent5>
      <a:accent6>
        <a:srgbClr val="5A6B78"/>
      </a:accent6>
      <a:hlink>
        <a:srgbClr val="21836D"/>
      </a:hlink>
      <a:folHlink>
        <a:srgbClr val="1D3046"/>
      </a:folHlink>
    </a:clrScheme>
    <a:fontScheme name="Preventr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Preventra Readmission Risk: overview</dc:title>
  <dc:subject>PptxGenJS Presentation</dc:subject>
  <dc:creator>Preventra</dc:creator>
  <cp:lastModifiedBy>Preventra</cp:lastModifiedBy>
  <cp:revision>1</cp:revision>
  <dcterms:created xsi:type="dcterms:W3CDTF">2026-10-20T07:47:07Z</dcterms:created>
  <dcterms:modified xsi:type="dcterms:W3CDTF">2026-10-20T07:47:07Z</dcterms:modified>
</cp:coreProperties>
</file>